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16037"/>
    <a:srgbClr val="2F7D6B"/>
    <a:srgbClr val="E3F1EC"/>
    <a:srgbClr val="F8E5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19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9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8004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 ~ 0:35 / 표지]
안녕하세요. 저는 '어르신도 말로 주문하는 카페'를 만들어 주는 직업, '보이스 오더 경험 설계자'를 제안하려는 박세웅입니다.
거창한 기술 이야기 대신, 제가 4년 넘게 카페에서 일하며 매일 본 한 장면에서 시작하겠습니다.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[2:05 ~ 2:55 / 데이터]
이 문제가 제 경험만이 아니라는 걸 데이터로 보여드리겠습니다.
왼쪽 그래프를 보시면, 디지털 기기 이용 역량 점수가 50대까지는 비슷하다가 60세 이상에서 3.11점으로 뚝 떨어집니다. 전 연령에서 가장 낮습니다.
오른쪽 위, 60세 이상은 네 명 중 한 명 이상, 27%가 '키오스크로 주문할 수 있다'에 '아니다'라고 답했습니다. 20대는 단 3.9%인데 말이죠.
그리고 오른쪽 아래, 카페가 무인주문기를 쓸 때 약 82%가 키오스크입니다. 즉 기기는 이미 매장에 깔려 있습니다.
정리하면, 기기는 깔려 있는데 어르신만 못 씁니다. 바로 이 격차가 제가 푸는 문제입니다.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[배경 · 약 30초 / 표지 다음]
잠깐, 이게 왜 지금 중요한 문제인지부터 말씀드리겠습니다.
65세 이상 인구는 2025년 약 1,051만 명에서 2050년 약 1,891만 명으로 늘어, 전체 인구의 다섯 명 중 한 명에서 두 명꼴, 약 40%까지 올라갑니다. 특히 키오스크를 가장 어려워하는 80세 이상은 약 세 배로 폭증합니다.
즉, 어르신 손님은 빠르게 늘어나는데 키오스크는 그대로입니다. 그래서 이 문제는 시간이 갈수록 더 커집니다.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[0:35 ~ 1:20 / 시작점]
카페에서 일하다 보면, 어르신 손님들이 키오스크 앞에서 한참을 멈춰 계십니다. 그러다 이렇게 말씀하세요. "마시고 싶은 건 머릿속에 있는데, 이 기계로 그걸 못 만들겠어."
중요한 건, 제가 이걸 어쩌다 한 번 본 게 아니라는 점입니다. 4년 넘게 매일 봤습니다. 실제로 통계를 봐도, 60세 이상 네 명 중 한 명 이상이 키오스크로 주문하기 어렵다고 답합니다. 그래서 저는 이 문제를, 책상이 아니라 현장에서 누구보다 잘 알고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[1:20 ~ 2:05 / 문제 정의]
어르신들은 왜 멈출까요? 세 가지입니다.
첫째, 원하는 맛은 분명합니다. '시원하고 단 커피'처럼 결과는 머릿속에 또렷합니다.
둘째, 그런데 그 결과를 '설정'하지 못합니다. 베이스 고르고, 토핑 얹고, 당도와 얼음량을 하나씩 선택하는 방식 자체가 낯섭니다.
셋째, 뒤에서 기다리는 사람들 때문에 압박을 느끼고, 결국 포기하거나 직원을 부릅니다.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[2:55 ~ 3:40 / 핵심 통찰]
진짜 문제는, 어르신이 기계를 못 쓰는 게 아니라는 겁니다. 키오스크가 '메뉴의 언어'로만 묻기 때문입니다.
지금 키오스크는 "베이스 고르세요, 샷 추가할까요, 시럽은요, 얼음량은요?" 하고 묻습니다. 하지만 어르신이 말하고 싶은 건 단 하나, "그냥 시원하고 단 커피요."입니다.
그러니 해법은 분명합니다. 기계가 묻는 방식을 어르신이 말하는 방식에 맞추면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[3:40 ~ 4:35 / 경쟁·한계]
물론 기존 해법들이 있습니다. 하지만 모두 한계가 있습니다.
일반 키오스크는 메뉴를 하나씩 터치해야 하니, '메뉴의 언어'를 알아야만 쓸 수 있습니다.
직원 호출은 사람이 대신 받아주지만, 어르신은 눈치를 보고 매장은 인력에 의존하게 됩니다.
음성비서나 배달앱은 말로 검색은 되지만, 정작 그 매장의 실제 메뉴와 옵션은 모릅니다.
즉 어느 것도 '어르신이 말한 결과'를 '그 매장의 메뉴'로 바꿔주지 못합니다. 제가 채우려는 건 정확히 그 빈칸입니다.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[4:35 ~ 5:35 / 솔루션]
그래서 제가 제안하는 흐름은 네 단계입니다.
1단계, 어르신은 결과만 말합니다. "시원하고 단 커피."
2단계, AI가 그 매장 메뉴 중 가장 비슷한 후보를 사진과 쉬운 설명으로 보여줍니다.
3단계, 어르신은 '맞아요, 아니에요'를 버튼으로 고르며 원하는 음료에 가까워집니다.
4단계, 주문이 들어가고, 마신 뒤 별점을 남기면 그 데이터로 그 매장 손님들에게 점점 더 잘 맞게 똑똑해집니다.
핵심은, 음성은 맨 처음 한 번만 쓰고 좁히는 건 이미지 터치로 한다는 겁니다. 그래서 빠르고, 시끄러운 매장에서도 안정적입니다.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[5:35 ~ 6:25 / 작동 예시]
실제로 어떻게 흘러가는지 보여드리겠습니다.
어르신이 "시원하고 단 커피 줘요" 하고 말합니다. 그러면 화면에 사진과 함께 "아이스 라떼에 시럽 추가, 이거 맞으세요?" 하고 뜹니다. "아니요"를 누르면 "그럼 달콤한 초콜릿 맛 카페모카는요?" 하고 다른 후보를 보여줍니다. "맞아요"를 누르면 주문이 끝나고 번호표가 나옵니다.
포인트는, 모든 후보를 사진과 쉬운 말로 함께 보여준다는 겁니다. 글씨를 빨리 못 읽으셔도, 보고 손가락으로 고르면 되니까요.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[6:25 ~ 7:20 / 약점 보완]
물론 약점도 있습니다. 미리 짚고 보완책까지 말씀드리겠습니다.
첫째, 시끄러운 매장에서 음성 인식이 흔들릴 수 있습니다. 그래서 음성은 처음 한 번만 쓰고, 좁히는 건 이미지 터치로 합니다. '누르고 말하기' 버튼으로 소음 구간을 차단하고, 완전한 문장이 아니라 핵심 키워드만 받아 발음 차이에도 강하게 만듭니다.
둘째, 대화가 길어져 주문 시간이 늘 수 있습니다. 그래서 후보 두세 개를 한 화면에 띄워 한 번에 고르게 하고, 단골 어르신은 '지난번 그 음료'로 바로 재주문하게 합니다. 그래도 안 되면 '직원 호출'로 절대 막혀서 포기하지 않게 합니다.
이 약점들을 매장마다 맞춰 세팅하는 것, 그게 바로 제 직무입니다.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[7:20 ~ 8:05 / 타겟]
이 서비스는 두 고객을 동시에 행복하게 합니다.
한쪽은 어르신 손님입니다. 68세 김순자 님은 키오스크가 무섭고 직원 부르기는 눈치가 보입니다. 바라는 건 단 하나, 남의 도움 없이 내가 마실 음료를 스스로 주문하는 겁니다.
다른 한쪽은 카페 사장님입니다. 포기하던 주문이 매출이 되고, 직원은 응대 대신 음료 만들기에 집중할 수 있습니다. 덤으로 '어르신이 편한 카페'라는 평판과 단골까지 얻습니다.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[8:05 ~ 8:55 / 창직 정의]
여기서 분명히 짚겠습니다. 이건 창업이 아니라 창직입니다.
창업으로 가면 'AI 키오스크 회사를 차린다'가 됩니다. 큰 자본과 팀, 완성된 제품이 먼저 필요하죠.
하지만 제가 갈 길은 창직입니다. '카페에 음성 주문 경험을 설계하고 도입해 주는 새로운 직업'이 되는 겁니다. 소자본·저위험이고, 제 카페 4년 경험과 개발 역량으로 지금 당장 시작할 수 있습니다.
그리고 이 창직이 한 매장에서 자리 잡으면, 여러 매장용 솔루션으로 키워 자연스럽게 창업으로도 이어집니다. 창직은 끝이 아니라 시작점입니다.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[8:55 ~ 9:35 / 가치 + 실현가능성]
이 창직이 주는 가치는 세 가지입니다.
기능적으로는, 말만 하면 원하는 음료를 스스로 주문할 수 있습니다.
감정적으로는, '혼자서도 해냈다'는 자신감과 존엄을 지켜드립니다.
사회적으로는, 말로만 외치던 고령층 디지털 격차를 매장 현장에서 실제로 줄입니다.
그리고 가장 중요한 것, 실현 가능성입니다. 저는 웹·백엔드와 서비스 개발 경험이 있어 이 흐름을 직접 만들고 매장마다 맞출 수 있습니다. 말뿐인 아이디어가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[9:35 ~ 10:00 / 마무리]
정리하겠습니다. 한 문장입니다.
"키오스크 앞에서 망설이는 어르신을 위해, '못 쓰는 답답함'을 '말로 주문하는 경험'으로 바꿔, 스스로 주문하는 자신감과 매장의 편의, 그리고 세대 디지털 격차 해소를 제공합니다."
저는 이 문제를 4년간 직접 봤고, 직접 만들 수 있습니다. 보이스 오더 경험 설계자, 박세웅이었습니다.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2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>
            <a:extLst>
              <a:ext uri="{FF2B5EF4-FFF2-40B4-BE49-F238E27FC236}">
                <a16:creationId xmlns:a16="http://schemas.microsoft.com/office/drawing/2014/main" id="{A1967934-DF24-3B13-3AE6-81669B46A77D}"/>
              </a:ext>
            </a:extLst>
          </p:cNvPr>
          <p:cNvSpPr/>
          <p:nvPr/>
        </p:nvSpPr>
        <p:spPr>
          <a:xfrm>
            <a:off x="8348472" y="-2011680"/>
            <a:ext cx="5852160" cy="5852160"/>
          </a:xfrm>
          <a:prstGeom prst="ellipse">
            <a:avLst/>
          </a:prstGeom>
          <a:solidFill>
            <a:srgbClr val="3A2A1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D1E6D2CA-A4BC-8861-E0E3-E62F1918226B}"/>
              </a:ext>
            </a:extLst>
          </p:cNvPr>
          <p:cNvSpPr/>
          <p:nvPr/>
        </p:nvSpPr>
        <p:spPr>
          <a:xfrm>
            <a:off x="9537192" y="-822960"/>
            <a:ext cx="3474720" cy="3474720"/>
          </a:xfrm>
          <a:prstGeom prst="ellipse">
            <a:avLst/>
          </a:prstGeom>
          <a:solidFill>
            <a:srgbClr val="C2683A">
              <a:alpha val="88000"/>
            </a:srgbClr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B28063A0-2796-2F01-4E5C-0A791306223B}"/>
              </a:ext>
            </a:extLst>
          </p:cNvPr>
          <p:cNvSpPr/>
          <p:nvPr/>
        </p:nvSpPr>
        <p:spPr>
          <a:xfrm>
            <a:off x="10588752" y="182880"/>
            <a:ext cx="1371600" cy="1371600"/>
          </a:xfrm>
          <a:prstGeom prst="ellipse">
            <a:avLst/>
          </a:prstGeom>
          <a:solidFill>
            <a:srgbClr val="2A2018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5F032C27-BB30-BA57-C9AA-2ED4A22EB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1652" y="525780"/>
            <a:ext cx="685800" cy="685800"/>
          </a:xfrm>
          <a:prstGeom prst="rect">
            <a:avLst/>
          </a:prstGeom>
        </p:spPr>
      </p:pic>
      <p:sp>
        <p:nvSpPr>
          <p:cNvPr id="18" name="Shape 3">
            <a:extLst>
              <a:ext uri="{FF2B5EF4-FFF2-40B4-BE49-F238E27FC236}">
                <a16:creationId xmlns:a16="http://schemas.microsoft.com/office/drawing/2014/main" id="{61892329-BE72-28D1-21F8-01B1EE2E78BE}"/>
              </a:ext>
            </a:extLst>
          </p:cNvPr>
          <p:cNvSpPr/>
          <p:nvPr/>
        </p:nvSpPr>
        <p:spPr>
          <a:xfrm>
            <a:off x="9857232" y="1325880"/>
            <a:ext cx="914400" cy="914400"/>
          </a:xfrm>
          <a:prstGeom prst="ellipse">
            <a:avLst/>
          </a:prstGeom>
          <a:solidFill>
            <a:srgbClr val="E0A458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1" descr="preencoded.png">
            <a:extLst>
              <a:ext uri="{FF2B5EF4-FFF2-40B4-BE49-F238E27FC236}">
                <a16:creationId xmlns:a16="http://schemas.microsoft.com/office/drawing/2014/main" id="{D876F273-77A5-6B30-FD76-CD33AA1175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5832" y="1554480"/>
            <a:ext cx="457200" cy="457200"/>
          </a:xfrm>
          <a:prstGeom prst="rect">
            <a:avLst/>
          </a:prstGeom>
        </p:spPr>
      </p:pic>
      <p:sp>
        <p:nvSpPr>
          <p:cNvPr id="20" name="Text 4">
            <a:extLst>
              <a:ext uri="{FF2B5EF4-FFF2-40B4-BE49-F238E27FC236}">
                <a16:creationId xmlns:a16="http://schemas.microsoft.com/office/drawing/2014/main" id="{F3C4A0CF-ED3C-1EA9-AF0B-3E72AFF53D60}"/>
              </a:ext>
            </a:extLst>
          </p:cNvPr>
          <p:cNvSpPr/>
          <p:nvPr/>
        </p:nvSpPr>
        <p:spPr>
          <a:xfrm>
            <a:off x="77724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0A4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창직 </a:t>
            </a:r>
            <a:r>
              <a:rPr lang="en-US" sz="1300" b="1" kern="0" spc="100" dirty="0" err="1">
                <a:solidFill>
                  <a:srgbClr val="E0A4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아이디어</a:t>
            </a:r>
            <a:r>
              <a:rPr lang="en-US" sz="1300" b="1" kern="0" spc="100" dirty="0">
                <a:solidFill>
                  <a:srgbClr val="E0A4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00" b="1" kern="0" spc="100" dirty="0" err="1">
                <a:solidFill>
                  <a:srgbClr val="E0A4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경진대회</a:t>
            </a:r>
            <a:endParaRPr lang="en-US" sz="130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C6047EF6-6B48-8AA8-05B5-F9340DC6C76D}"/>
              </a:ext>
            </a:extLst>
          </p:cNvPr>
          <p:cNvSpPr/>
          <p:nvPr/>
        </p:nvSpPr>
        <p:spPr>
          <a:xfrm>
            <a:off x="731520" y="19659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Voice Order</a:t>
            </a:r>
            <a:r>
              <a:rPr lang="ko-KR" altLang="en-US" sz="5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endParaRPr lang="en-US" sz="52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36F64A02-9EDA-FEAC-4CBD-5258CC647787}"/>
              </a:ext>
            </a:extLst>
          </p:cNvPr>
          <p:cNvSpPr/>
          <p:nvPr/>
        </p:nvSpPr>
        <p:spPr>
          <a:xfrm>
            <a:off x="749808" y="3200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100" dirty="0">
                <a:solidFill>
                  <a:srgbClr val="EAD9C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음료를 </a:t>
            </a:r>
            <a:r>
              <a:rPr lang="en-US" sz="2100" dirty="0" err="1">
                <a:solidFill>
                  <a:srgbClr val="B160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말로</a:t>
            </a:r>
            <a:r>
              <a:rPr lang="en-US" sz="2100" dirty="0">
                <a:solidFill>
                  <a:srgbClr val="B160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2100" dirty="0" err="1">
                <a:solidFill>
                  <a:srgbClr val="B160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주문</a:t>
            </a:r>
            <a:r>
              <a:rPr lang="en-US" sz="2100" dirty="0" err="1">
                <a:solidFill>
                  <a:srgbClr val="EAD9C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하는</a:t>
            </a:r>
            <a:r>
              <a:rPr lang="en-US" sz="2100" dirty="0">
                <a:solidFill>
                  <a:srgbClr val="EAD9C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ko-KR" altLang="en-US" sz="2100" dirty="0">
                <a:solidFill>
                  <a:srgbClr val="EAD9C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과정을 설계</a:t>
            </a:r>
            <a:endParaRPr lang="en-US" sz="21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9C8BCAA7-108D-228F-89F2-58BF70943CA8}"/>
              </a:ext>
            </a:extLst>
          </p:cNvPr>
          <p:cNvSpPr/>
          <p:nvPr/>
        </p:nvSpPr>
        <p:spPr>
          <a:xfrm>
            <a:off x="777240" y="43159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9BBA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4년 </a:t>
            </a:r>
            <a:r>
              <a:rPr lang="ko-KR" altLang="en-US" sz="1350" i="1" dirty="0">
                <a:solidFill>
                  <a:srgbClr val="C9BBA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이상 </a:t>
            </a:r>
            <a:r>
              <a:rPr lang="en-US" sz="1350" i="1" dirty="0" err="1">
                <a:solidFill>
                  <a:srgbClr val="C9BBA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카페에서</a:t>
            </a:r>
            <a:r>
              <a:rPr lang="en-US" sz="1350" i="1" dirty="0">
                <a:solidFill>
                  <a:srgbClr val="C9BBA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직접 본 문제로부터 출발한 창직 제안</a:t>
            </a:r>
            <a:endParaRPr lang="en-US" sz="135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37AB51E3-3DFD-880B-FD27-B5127DE7F0F2}"/>
              </a:ext>
            </a:extLst>
          </p:cNvPr>
          <p:cNvSpPr/>
          <p:nvPr/>
        </p:nvSpPr>
        <p:spPr>
          <a:xfrm>
            <a:off x="777240" y="5852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80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발표자  </a:t>
            </a: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박세웅</a:t>
            </a:r>
            <a:r>
              <a:rPr lang="en-US" sz="1300" dirty="0">
                <a:solidFill>
                  <a:srgbClr val="8C80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  |      2026. 06. 11.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창직 </a:t>
            </a:r>
            <a:r>
              <a:rPr lang="en-US" sz="1100" b="1" kern="0" spc="100" dirty="0" err="1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아이디어</a:t>
            </a:r>
            <a:r>
              <a:rPr lang="en-US" sz="1100" b="1" kern="0" spc="100" dirty="0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100" b="1" kern="0" spc="100" dirty="0" err="1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경진대회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C80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</a:t>
            </a:r>
            <a:r>
              <a:rPr lang="en-US" altLang="ko-KR" sz="1100" dirty="0">
                <a:solidFill>
                  <a:srgbClr val="8C80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기기는</a:t>
            </a:r>
            <a:r>
              <a:rPr lang="en-US" sz="3000" b="1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깔렸는데, 어르신만 못 씁니다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44652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8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연령별 ‘키오스크 등 디지털 기기 이용’ 역량 평균 점수  (5점 만점)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68680" y="5486400"/>
            <a:ext cx="5806440" cy="0"/>
          </a:xfrm>
          <a:prstGeom prst="line">
            <a:avLst/>
          </a:prstGeom>
          <a:noFill/>
          <a:ln w="19050">
            <a:solidFill>
              <a:srgbClr val="E8DE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050798" y="3131312"/>
            <a:ext cx="603504" cy="2355088"/>
          </a:xfrm>
          <a:prstGeom prst="rect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13638" y="2802128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A8B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198" y="5559552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C80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17–19세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018538" y="3150616"/>
            <a:ext cx="603504" cy="2335784"/>
          </a:xfrm>
          <a:prstGeom prst="rect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881378" y="2821432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A8B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89938" y="5559552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C80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20대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986278" y="3189224"/>
            <a:ext cx="603504" cy="2297176"/>
          </a:xfrm>
          <a:prstGeom prst="rect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849118" y="2860040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A8B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3.99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57678" y="5559552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C80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30대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954018" y="3227832"/>
            <a:ext cx="603504" cy="2258568"/>
          </a:xfrm>
          <a:prstGeom prst="rect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816858" y="2898648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A8B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3.97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25418" y="5559552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C80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40대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921758" y="3749040"/>
            <a:ext cx="603504" cy="1737360"/>
          </a:xfrm>
          <a:prstGeom prst="rect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784598" y="3419856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A8B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3.70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93158" y="5559552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C80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50대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89498" y="4887976"/>
            <a:ext cx="603504" cy="598424"/>
          </a:xfrm>
          <a:prstGeom prst="rect">
            <a:avLst/>
          </a:prstGeom>
          <a:solidFill>
            <a:srgbClr val="B05A4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752338" y="4558792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5A4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3.11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0898" y="5559552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05A4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60세+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524500" y="40050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05A4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 전 연령 최저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619963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C80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자료  ①  방송통신위원회 「지능정보사회 이용자패널조사」(2024)      ②  농림축산식품부 「외식업체 경영실태조사」(2025)</a:t>
            </a:r>
            <a:endParaRPr lang="en-US" sz="950" dirty="0"/>
          </a:p>
        </p:txBody>
      </p:sp>
      <p:sp>
        <p:nvSpPr>
          <p:cNvPr id="35" name="Shape 28">
            <a:extLst>
              <a:ext uri="{FF2B5EF4-FFF2-40B4-BE49-F238E27FC236}">
                <a16:creationId xmlns:a16="http://schemas.microsoft.com/office/drawing/2014/main" id="{3889E048-5C14-9DEE-3518-0B7A330C8D95}"/>
              </a:ext>
            </a:extLst>
          </p:cNvPr>
          <p:cNvSpPr/>
          <p:nvPr/>
        </p:nvSpPr>
        <p:spPr>
          <a:xfrm>
            <a:off x="7177278" y="1828800"/>
            <a:ext cx="4462272" cy="1965960"/>
          </a:xfrm>
          <a:prstGeom prst="roundRect">
            <a:avLst>
              <a:gd name="adj" fmla="val 5581"/>
            </a:avLst>
          </a:prstGeom>
          <a:solidFill>
            <a:srgbClr val="F8E5D8"/>
          </a:solidFill>
          <a:ln w="12700">
            <a:solidFill>
              <a:srgbClr val="E8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2D511466-3555-8649-48D5-8B47B72B50F9}"/>
              </a:ext>
            </a:extLst>
          </p:cNvPr>
          <p:cNvSpPr/>
          <p:nvPr/>
        </p:nvSpPr>
        <p:spPr>
          <a:xfrm>
            <a:off x="7405878" y="193852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B160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81.7%</a:t>
            </a:r>
            <a:endParaRPr lang="en-US" sz="4200" dirty="0">
              <a:solidFill>
                <a:srgbClr val="B16037"/>
              </a:solidFill>
            </a:endParaRPr>
          </a:p>
        </p:txBody>
      </p:sp>
      <p:sp>
        <p:nvSpPr>
          <p:cNvPr id="37" name="Text 30">
            <a:extLst>
              <a:ext uri="{FF2B5EF4-FFF2-40B4-BE49-F238E27FC236}">
                <a16:creationId xmlns:a16="http://schemas.microsoft.com/office/drawing/2014/main" id="{8A391DBA-B85B-9186-4E87-393DF37511B1}"/>
              </a:ext>
            </a:extLst>
          </p:cNvPr>
          <p:cNvSpPr/>
          <p:nvPr/>
        </p:nvSpPr>
        <p:spPr>
          <a:xfrm>
            <a:off x="7424166" y="278892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카페가 무인주문기를 쓸 </a:t>
            </a:r>
            <a:r>
              <a:rPr lang="en-US" sz="1250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때</a:t>
            </a:r>
            <a:r>
              <a:rPr lang="en-US" sz="12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250" b="1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키오스크</a:t>
            </a:r>
            <a:r>
              <a:rPr lang="en-US" sz="1250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</a:t>
            </a:r>
            <a:r>
              <a:rPr lang="en-US" sz="12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비율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(2025)  —  기기는 이미 매장에 있다</a:t>
            </a:r>
            <a:endParaRPr lang="en-US" sz="1250" dirty="0"/>
          </a:p>
        </p:txBody>
      </p:sp>
      <p:sp>
        <p:nvSpPr>
          <p:cNvPr id="38" name="Shape 19">
            <a:extLst>
              <a:ext uri="{FF2B5EF4-FFF2-40B4-BE49-F238E27FC236}">
                <a16:creationId xmlns:a16="http://schemas.microsoft.com/office/drawing/2014/main" id="{B0DD3A81-6CA5-EE49-55D4-163212006434}"/>
              </a:ext>
            </a:extLst>
          </p:cNvPr>
          <p:cNvSpPr/>
          <p:nvPr/>
        </p:nvSpPr>
        <p:spPr>
          <a:xfrm>
            <a:off x="7178040" y="4023360"/>
            <a:ext cx="4462272" cy="1965960"/>
          </a:xfrm>
          <a:prstGeom prst="roundRect">
            <a:avLst>
              <a:gd name="adj" fmla="val 5581"/>
            </a:avLst>
          </a:prstGeom>
          <a:solidFill>
            <a:srgbClr val="E3F0EC"/>
          </a:solidFill>
          <a:ln w="12700">
            <a:solidFill>
              <a:srgbClr val="E8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Text 20">
            <a:extLst>
              <a:ext uri="{FF2B5EF4-FFF2-40B4-BE49-F238E27FC236}">
                <a16:creationId xmlns:a16="http://schemas.microsoft.com/office/drawing/2014/main" id="{A9862267-5873-E881-9676-239BA44F95CB}"/>
              </a:ext>
            </a:extLst>
          </p:cNvPr>
          <p:cNvSpPr/>
          <p:nvPr/>
        </p:nvSpPr>
        <p:spPr>
          <a:xfrm>
            <a:off x="7406640" y="413308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2E7D6B"/>
                </a:solidFill>
                <a:latin typeface="Noto Sans CJK KR" pitchFamily="34" charset="0"/>
              </a:rPr>
              <a:t>불편의 악순환</a:t>
            </a:r>
            <a:endParaRPr lang="en-US" sz="4000" dirty="0"/>
          </a:p>
        </p:txBody>
      </p:sp>
      <p:sp>
        <p:nvSpPr>
          <p:cNvPr id="40" name="Text 21">
            <a:extLst>
              <a:ext uri="{FF2B5EF4-FFF2-40B4-BE49-F238E27FC236}">
                <a16:creationId xmlns:a16="http://schemas.microsoft.com/office/drawing/2014/main" id="{D99EF0D7-D122-63CF-7B6C-14F2B80874A0}"/>
              </a:ext>
            </a:extLst>
          </p:cNvPr>
          <p:cNvSpPr/>
          <p:nvPr/>
        </p:nvSpPr>
        <p:spPr>
          <a:xfrm>
            <a:off x="7424928" y="498348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ko-KR" altLang="en-US" sz="12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키오스크는 늘어가고</a:t>
            </a:r>
            <a:r>
              <a:rPr lang="en-US" altLang="ko-KR" sz="12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ko-KR" altLang="en-US" sz="1250" dirty="0">
                <a:solidFill>
                  <a:srgbClr val="4A4036"/>
                </a:solidFill>
                <a:latin typeface="Noto Sans CJK KR" pitchFamily="34" charset="0"/>
              </a:rPr>
              <a:t>키오스크를 어려워하는 어르신들도 늘어남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창직 </a:t>
            </a:r>
            <a:r>
              <a:rPr lang="en-US" sz="1100" b="1" kern="0" spc="100" dirty="0" err="1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아이디어</a:t>
            </a:r>
            <a:r>
              <a:rPr lang="en-US" sz="1100" b="1" kern="0" spc="100" dirty="0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100" b="1" kern="0" spc="100" dirty="0" err="1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경진대회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C80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</a:t>
            </a:r>
            <a:r>
              <a:rPr lang="en-US" altLang="ko-KR" sz="1100" dirty="0">
                <a:solidFill>
                  <a:srgbClr val="8C80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지금일까? — 이 문제를 겪을 사람이 늘어납니다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고령 인구는 느는데, 키오스크는 그대로입니다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44652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8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65세 이상 인구 추이  (단위: 만 명)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234440" y="5349240"/>
            <a:ext cx="5029200" cy="0"/>
          </a:xfrm>
          <a:prstGeom prst="line">
            <a:avLst/>
          </a:prstGeom>
          <a:noFill/>
          <a:ln w="19050">
            <a:solidFill>
              <a:srgbClr val="E8DE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652016" y="4195999"/>
            <a:ext cx="841248" cy="1153241"/>
          </a:xfrm>
          <a:prstGeom prst="rect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377696" y="3830239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8B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1,051만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7696" y="544068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C80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28416" y="3680277"/>
            <a:ext cx="841248" cy="1668963"/>
          </a:xfrm>
          <a:prstGeom prst="rect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054096" y="3314517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8B5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1,521만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54096" y="544068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C80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2035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04816" y="3274284"/>
            <a:ext cx="841248" cy="2074956"/>
          </a:xfrm>
          <a:prstGeom prst="rect">
            <a:avLst/>
          </a:prstGeom>
          <a:solidFill>
            <a:srgbClr val="C2683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730496" y="2908524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1,891만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30496" y="544068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2050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78040" y="1828800"/>
            <a:ext cx="4462272" cy="1965960"/>
          </a:xfrm>
          <a:prstGeom prst="roundRect">
            <a:avLst>
              <a:gd name="adj" fmla="val 5581"/>
            </a:avLst>
          </a:prstGeom>
          <a:solidFill>
            <a:srgbClr val="F7E4D7"/>
          </a:solidFill>
          <a:ln w="12700">
            <a:solidFill>
              <a:srgbClr val="E8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406640" y="193852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40%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7424928" y="278892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2050년 </a:t>
            </a:r>
            <a:r>
              <a:rPr lang="en-US" sz="1250" b="1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5명 중 2명</a:t>
            </a:r>
            <a:r>
              <a:rPr lang="en-US" sz="12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65세 이상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(2025년은 5명 중 1명, 약 20%)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178040" y="4023360"/>
            <a:ext cx="4462272" cy="1965960"/>
          </a:xfrm>
          <a:prstGeom prst="roundRect">
            <a:avLst>
              <a:gd name="adj" fmla="val 5581"/>
            </a:avLst>
          </a:prstGeom>
          <a:solidFill>
            <a:srgbClr val="E3F0EC"/>
          </a:solidFill>
          <a:ln w="12700">
            <a:solidFill>
              <a:srgbClr val="E8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406640" y="413308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 err="1">
                <a:solidFill>
                  <a:srgbClr val="2E7D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약</a:t>
            </a:r>
            <a:r>
              <a:rPr lang="en-US" sz="4000" b="1" dirty="0">
                <a:solidFill>
                  <a:srgbClr val="2E7D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altLang="ko-KR" sz="4000" b="1" dirty="0">
                <a:solidFill>
                  <a:srgbClr val="2E7D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r>
              <a:rPr lang="en-US" sz="4000" b="1" dirty="0">
                <a:solidFill>
                  <a:srgbClr val="2E7D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7424928" y="498348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키오스크를 가장 </a:t>
            </a:r>
            <a:r>
              <a:rPr lang="en-US" sz="1250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버거워하는</a:t>
            </a:r>
            <a:r>
              <a:rPr lang="en-US" sz="12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altLang="ko-KR" sz="12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65</a:t>
            </a:r>
            <a:r>
              <a:rPr lang="en-US" sz="12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 이상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altLang="ko-KR" sz="12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1,051</a:t>
            </a:r>
            <a:r>
              <a:rPr lang="en-US" sz="12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만(2025) → </a:t>
            </a:r>
            <a:r>
              <a:rPr lang="en-US" altLang="ko-KR" sz="12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1,891</a:t>
            </a:r>
            <a:r>
              <a:rPr lang="en-US" sz="12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만(2050)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19963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C80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자료  국가데이터처(옛 통계청) 「장래인구추계」(중위 추계)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창직 </a:t>
            </a:r>
            <a:r>
              <a:rPr lang="en-US" sz="1100" b="1" kern="0" spc="100" dirty="0" err="1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아이디어</a:t>
            </a:r>
            <a:r>
              <a:rPr lang="en-US" sz="1100" b="1" kern="0" spc="100" dirty="0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100" b="1" kern="0" spc="100" dirty="0" err="1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경진대회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C80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</a:t>
            </a:r>
            <a:r>
              <a:rPr lang="en-US" altLang="ko-KR" sz="1100" dirty="0">
                <a:solidFill>
                  <a:srgbClr val="8C80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제가 4년간 매일 본 장면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858000" cy="4480560"/>
          </a:xfrm>
          <a:prstGeom prst="roundRect">
            <a:avLst>
              <a:gd name="adj" fmla="val 2449"/>
            </a:avLst>
          </a:prstGeom>
          <a:solidFill>
            <a:srgbClr val="F6F1EB"/>
          </a:solidFill>
          <a:ln w="12700">
            <a:solidFill>
              <a:srgbClr val="E8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41248" y="1892808"/>
            <a:ext cx="658368" cy="658368"/>
          </a:xfrm>
          <a:prstGeom prst="ellipse">
            <a:avLst/>
          </a:prstGeom>
          <a:solidFill>
            <a:srgbClr val="C2683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020824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697480"/>
            <a:ext cx="6126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“마시고 싶은 음료는</a:t>
            </a:r>
            <a:endParaRPr lang="en-US" sz="27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머릿속에 있는데,</a:t>
            </a:r>
            <a:endParaRPr lang="en-US" sz="27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키오스크에서 그걸</a:t>
            </a:r>
            <a:endParaRPr lang="en-US" sz="27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못 만들겠어.”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914400" y="525780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C80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 카페에서 어르신들이 가장 자주 하시던 말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635240" y="1600200"/>
            <a:ext cx="400507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8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7818120" y="175564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27%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7863840" y="2670048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60세 이상 4명 중 1명 </a:t>
            </a:r>
            <a:r>
              <a:rPr lang="en-US" sz="1250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이상이</a:t>
            </a:r>
            <a:r>
              <a:rPr lang="en-US" sz="12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‘</a:t>
            </a:r>
            <a:r>
              <a:rPr lang="en-US" sz="1250" b="1" u="sng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키오스크로</a:t>
            </a:r>
            <a:endParaRPr lang="en-US" sz="1250" b="1" u="sng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b="1" u="sng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주문하기</a:t>
            </a:r>
            <a:r>
              <a:rPr lang="en-US" sz="1250" b="1" u="sng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250" b="1" u="sng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어렵다</a:t>
            </a:r>
            <a:r>
              <a:rPr lang="en-US" sz="1250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’고</a:t>
            </a:r>
            <a:r>
              <a:rPr lang="en-US" sz="12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답  (20대는 3.9%)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863840" y="341985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C80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자료: 방송통신위원회 「지능정보사회 이용자패널조사」(2024)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635240" y="3931920"/>
            <a:ext cx="4005072" cy="2148840"/>
          </a:xfrm>
          <a:prstGeom prst="roundRect">
            <a:avLst>
              <a:gd name="adj" fmla="val 5106"/>
            </a:avLst>
          </a:prstGeom>
          <a:solidFill>
            <a:srgbClr val="2A2018"/>
          </a:solidFill>
          <a:ln w="12700">
            <a:solidFill>
              <a:srgbClr val="E8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7863840" y="422452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저는 </a:t>
            </a:r>
            <a:r>
              <a:rPr lang="en-US" sz="1600" b="1" dirty="0" err="1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이걸</a:t>
            </a:r>
            <a:r>
              <a:rPr lang="en-US" sz="1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가끔이</a:t>
            </a:r>
            <a:r>
              <a:rPr lang="en-US" sz="1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아니라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B160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4년 </a:t>
            </a:r>
            <a:r>
              <a:rPr lang="en-US" sz="1600" b="1" dirty="0" err="1">
                <a:solidFill>
                  <a:srgbClr val="B160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동안</a:t>
            </a:r>
            <a:r>
              <a:rPr lang="en-US" sz="1600" b="1" dirty="0">
                <a:solidFill>
                  <a:srgbClr val="B160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600" b="1" dirty="0" err="1">
                <a:solidFill>
                  <a:srgbClr val="B160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매일</a:t>
            </a:r>
            <a:r>
              <a:rPr lang="en-US" sz="1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봤습니다.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863840" y="52120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CBB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그래서 이 문제를 누구보다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9CBB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구체적으로 알고 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창직 </a:t>
            </a:r>
            <a:r>
              <a:rPr lang="en-US" sz="1100" b="1" kern="0" spc="100" dirty="0" err="1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아이디어</a:t>
            </a:r>
            <a:r>
              <a:rPr lang="en-US" sz="1100" b="1" kern="0" spc="100" dirty="0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100" b="1" kern="0" spc="100" dirty="0" err="1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경진대회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C80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</a:t>
            </a:r>
            <a:r>
              <a:rPr lang="en-US" altLang="ko-KR" sz="1100" dirty="0">
                <a:solidFill>
                  <a:srgbClr val="8C80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어르신은 왜 키오스크 앞에서 멈출까?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75304" cy="4069080"/>
          </a:xfrm>
          <a:prstGeom prst="roundRect">
            <a:avLst>
              <a:gd name="adj" fmla="val 3069"/>
            </a:avLst>
          </a:prstGeom>
          <a:solidFill>
            <a:srgbClr val="FBF6F0"/>
          </a:solidFill>
          <a:ln w="12700">
            <a:solidFill>
              <a:srgbClr val="E8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856232" y="2171700"/>
            <a:ext cx="960120" cy="960120"/>
          </a:xfrm>
          <a:prstGeom prst="ellipse">
            <a:avLst/>
          </a:prstGeom>
          <a:solidFill>
            <a:srgbClr val="C2683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262" y="2411730"/>
            <a:ext cx="480060" cy="4800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3337560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50" b="1" dirty="0" err="1">
                <a:solidFill>
                  <a:srgbClr val="B160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원하는</a:t>
            </a:r>
            <a:r>
              <a:rPr lang="en-US" sz="1750" b="1" dirty="0">
                <a:solidFill>
                  <a:srgbClr val="B160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750" b="1" dirty="0" err="1">
                <a:solidFill>
                  <a:srgbClr val="B160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맛</a:t>
            </a:r>
            <a:r>
              <a:rPr lang="en-US" sz="1750" b="1" dirty="0" err="1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은</a:t>
            </a:r>
            <a:r>
              <a:rPr lang="en-US" sz="1750" b="1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분명하다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68680" y="4251960"/>
            <a:ext cx="2935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‘시원하고 단 </a:t>
            </a:r>
            <a:r>
              <a:rPr lang="en-US" sz="1350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커피’처럼</a:t>
            </a:r>
            <a:endParaRPr lang="en-US" sz="1350" dirty="0">
              <a:solidFill>
                <a:srgbClr val="4A4036"/>
              </a:solidFill>
              <a:latin typeface="Noto Sans CJK KR" pitchFamily="34" charset="0"/>
              <a:ea typeface="Noto Sans CJK KR" pitchFamily="34" charset="-122"/>
              <a:cs typeface="Noto Sans CJK KR" pitchFamily="34" charset="-12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50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결과는</a:t>
            </a:r>
            <a:r>
              <a:rPr lang="en-US" sz="13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머릿속에 또렷이 있다.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98264" y="1828800"/>
            <a:ext cx="3575304" cy="4069080"/>
          </a:xfrm>
          <a:prstGeom prst="roundRect">
            <a:avLst>
              <a:gd name="adj" fmla="val 3069"/>
            </a:avLst>
          </a:prstGeom>
          <a:solidFill>
            <a:srgbClr val="FBF6F0"/>
          </a:solidFill>
          <a:ln w="12700">
            <a:solidFill>
              <a:srgbClr val="E8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705856" y="2171700"/>
            <a:ext cx="960120" cy="960120"/>
          </a:xfrm>
          <a:prstGeom prst="ellipse">
            <a:avLst/>
          </a:prstGeom>
          <a:solidFill>
            <a:srgbClr val="E0A458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5886" y="2411730"/>
            <a:ext cx="480060" cy="4800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90872" y="3337560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50" b="1" dirty="0" err="1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그런데</a:t>
            </a:r>
            <a:r>
              <a:rPr lang="en-US" sz="1750" b="1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750" b="1" dirty="0" err="1">
                <a:solidFill>
                  <a:srgbClr val="B160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설정</a:t>
            </a:r>
            <a:r>
              <a:rPr lang="en-US" sz="1750" b="1" dirty="0" err="1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을</a:t>
            </a:r>
            <a:r>
              <a:rPr lang="en-US" sz="1750" b="1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못 한다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4718304" y="4251960"/>
            <a:ext cx="2935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베이스·토핑·당도·얼음량을</a:t>
            </a:r>
            <a:r>
              <a:rPr lang="en-US" sz="13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50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하나씩</a:t>
            </a:r>
            <a:r>
              <a:rPr lang="en-US" sz="13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고르는 방식을 모른다.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247888" y="1828800"/>
            <a:ext cx="3575304" cy="4069080"/>
          </a:xfrm>
          <a:prstGeom prst="roundRect">
            <a:avLst>
              <a:gd name="adj" fmla="val 3069"/>
            </a:avLst>
          </a:prstGeom>
          <a:solidFill>
            <a:srgbClr val="FBF6F0"/>
          </a:solidFill>
          <a:ln w="12700">
            <a:solidFill>
              <a:srgbClr val="E8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9555480" y="2171700"/>
            <a:ext cx="960120" cy="960120"/>
          </a:xfrm>
          <a:prstGeom prst="ellipse">
            <a:avLst/>
          </a:prstGeom>
          <a:solidFill>
            <a:srgbClr val="B05A4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5510" y="2411730"/>
            <a:ext cx="480060" cy="4800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40496" y="3337560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뒤에서 기다리는 압박</a:t>
            </a:r>
            <a:endParaRPr lang="en-US" sz="1750" dirty="0"/>
          </a:p>
        </p:txBody>
      </p:sp>
      <p:sp>
        <p:nvSpPr>
          <p:cNvPr id="19" name="Text 14"/>
          <p:cNvSpPr/>
          <p:nvPr/>
        </p:nvSpPr>
        <p:spPr>
          <a:xfrm>
            <a:off x="8567928" y="4251960"/>
            <a:ext cx="2935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줄이 길어질수록 당황하고, 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50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결국</a:t>
            </a:r>
            <a:r>
              <a:rPr lang="en-US" sz="13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포기하거나 직원을 부른다.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2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0A4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창직 </a:t>
            </a:r>
            <a:r>
              <a:rPr lang="en-US" sz="1100" b="1" kern="0" spc="100" dirty="0" err="1">
                <a:solidFill>
                  <a:srgbClr val="E0A4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아이디어</a:t>
            </a:r>
            <a:r>
              <a:rPr lang="en-US" sz="1100" b="1" kern="0" spc="100" dirty="0">
                <a:solidFill>
                  <a:srgbClr val="E0A4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100" b="1" kern="0" spc="100" dirty="0" err="1">
                <a:solidFill>
                  <a:srgbClr val="E0A4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경진대회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8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05840" cy="1005840"/>
          </a:xfrm>
          <a:prstGeom prst="ellipse">
            <a:avLst/>
          </a:prstGeom>
          <a:solidFill>
            <a:srgbClr val="C2683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18516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48840" y="16002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A4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진짜 문제는 이것입니다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2148840" y="2103120"/>
            <a:ext cx="9418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300" b="1" dirty="0">
                <a:solidFill>
                  <a:srgbClr val="D9CBB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어르신이 기계를 못 쓰는 게 아니라,
</a:t>
            </a:r>
            <a:r>
              <a:rPr lang="en-US" sz="3300" b="1" dirty="0" err="1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키오스크가</a:t>
            </a:r>
            <a:r>
              <a:rPr lang="en-US" sz="3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3300" b="1" dirty="0" err="1">
                <a:solidFill>
                  <a:srgbClr val="B160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메뉴의</a:t>
            </a:r>
            <a:r>
              <a:rPr lang="en-US" sz="3300" b="1" dirty="0">
                <a:solidFill>
                  <a:srgbClr val="B160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3300" b="1" dirty="0" err="1">
                <a:solidFill>
                  <a:srgbClr val="B160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언어</a:t>
            </a:r>
            <a:r>
              <a:rPr lang="en-US" sz="3300" b="1" dirty="0" err="1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로만</a:t>
            </a:r>
            <a:r>
              <a:rPr lang="en-US" sz="3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묻는다</a:t>
            </a:r>
            <a:r>
              <a:rPr lang="en-US" sz="3300" b="1" dirty="0">
                <a:solidFill>
                  <a:srgbClr val="D9CBB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는 것.</a:t>
            </a:r>
            <a:endParaRPr lang="en-US" sz="3300" dirty="0"/>
          </a:p>
        </p:txBody>
      </p:sp>
      <p:sp>
        <p:nvSpPr>
          <p:cNvPr id="8" name="Shape 5"/>
          <p:cNvSpPr/>
          <p:nvPr/>
        </p:nvSpPr>
        <p:spPr>
          <a:xfrm>
            <a:off x="2148840" y="4160520"/>
            <a:ext cx="4297680" cy="1417320"/>
          </a:xfrm>
          <a:prstGeom prst="roundRect">
            <a:avLst>
              <a:gd name="adj" fmla="val 7742"/>
            </a:avLst>
          </a:prstGeom>
          <a:solidFill>
            <a:srgbClr val="3A2A1E"/>
          </a:solidFill>
          <a:ln w="12700">
            <a:solidFill>
              <a:srgbClr val="E8DE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2377440" y="43708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A4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지금 키오스크가 묻는 법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377440" y="47548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“베이스? 샷? 시럽? 얼음량?”</a:t>
            </a:r>
            <a:endParaRPr lang="en-US" sz="16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709160"/>
            <a:ext cx="502920" cy="5029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269480" y="4160520"/>
            <a:ext cx="4297680" cy="1417320"/>
          </a:xfrm>
          <a:prstGeom prst="roundRect">
            <a:avLst>
              <a:gd name="adj" fmla="val 7742"/>
            </a:avLst>
          </a:prstGeom>
          <a:solidFill>
            <a:srgbClr val="2E7D6B"/>
          </a:solidFill>
          <a:ln w="12700">
            <a:solidFill>
              <a:srgbClr val="E8DE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7498080" y="43708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FE6D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어르신이 말하고 싶은 법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7498080" y="47548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“그냥 시원하고 단 커피요.”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창직 </a:t>
            </a:r>
            <a:r>
              <a:rPr lang="en-US" sz="1100" b="1" kern="0" spc="100" dirty="0" err="1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아이디어</a:t>
            </a:r>
            <a:r>
              <a:rPr lang="en-US" sz="1100" b="1" kern="0" spc="100" dirty="0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100" b="1" kern="0" spc="100" dirty="0" err="1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경진대회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C80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기존엔 이렇게 풀었지만 — 모두 한계가 있습니다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75304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8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75304" cy="109728"/>
          </a:xfrm>
          <a:prstGeom prst="rect">
            <a:avLst/>
          </a:prstGeom>
          <a:solidFill>
            <a:srgbClr val="B05A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32688" y="2148840"/>
            <a:ext cx="786384" cy="786384"/>
          </a:xfrm>
          <a:prstGeom prst="ellipse">
            <a:avLst/>
          </a:prstGeom>
          <a:solidFill>
            <a:srgbClr val="B05A4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" y="2345436"/>
            <a:ext cx="393192" cy="3931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4520" y="2286000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일반 키오스크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59536" y="315468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터치로 메뉴를 </a:t>
            </a:r>
            <a:r>
              <a:rPr lang="en-US" sz="1350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하나씩</a:t>
            </a:r>
            <a:r>
              <a:rPr lang="en-US" sz="13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설정</a:t>
            </a:r>
            <a:r>
              <a:rPr lang="ko-KR" altLang="en-US" sz="13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한다</a:t>
            </a:r>
            <a:r>
              <a:rPr lang="en-US" sz="13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59536" y="3657600"/>
            <a:ext cx="2953512" cy="0"/>
          </a:xfrm>
          <a:prstGeom prst="line">
            <a:avLst/>
          </a:prstGeom>
          <a:noFill/>
          <a:ln w="12700">
            <a:solidFill>
              <a:srgbClr val="E8DE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859536" y="3767328"/>
            <a:ext cx="2953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 err="1">
                <a:solidFill>
                  <a:srgbClr val="B05A4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한계</a:t>
            </a:r>
            <a:r>
              <a:rPr lang="en-US" sz="1300" b="1" dirty="0">
                <a:solidFill>
                  <a:srgbClr val="B05A4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</a:t>
            </a:r>
            <a:r>
              <a:rPr lang="en-US" sz="1300" b="1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메뉴의</a:t>
            </a:r>
            <a:r>
              <a:rPr lang="en-US" sz="1300" b="1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00" b="1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언어</a:t>
            </a:r>
            <a:r>
              <a:rPr lang="en-US" sz="1300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를</a:t>
            </a:r>
            <a:r>
              <a:rPr lang="en-US" sz="130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알아야만 쓸 수 있다.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398264" y="1828800"/>
            <a:ext cx="3575304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8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398264" y="1828800"/>
            <a:ext cx="3575304" cy="109728"/>
          </a:xfrm>
          <a:prstGeom prst="rect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782312" y="2148840"/>
            <a:ext cx="786384" cy="786384"/>
          </a:xfrm>
          <a:prstGeom prst="ellipse">
            <a:avLst/>
          </a:prstGeom>
          <a:solidFill>
            <a:srgbClr val="E0A458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908" y="2345436"/>
            <a:ext cx="393192" cy="39319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724144" y="2286000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직원 호출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4709160" y="315468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사람이 대신 받아준다.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4709160" y="3657600"/>
            <a:ext cx="2953512" cy="0"/>
          </a:xfrm>
          <a:prstGeom prst="line">
            <a:avLst/>
          </a:prstGeom>
          <a:noFill/>
          <a:ln w="12700">
            <a:solidFill>
              <a:srgbClr val="E8DE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/>
          <p:nvPr/>
        </p:nvSpPr>
        <p:spPr>
          <a:xfrm>
            <a:off x="4709160" y="3767328"/>
            <a:ext cx="2953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 err="1">
                <a:solidFill>
                  <a:srgbClr val="E0A4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한계</a:t>
            </a:r>
            <a:r>
              <a:rPr lang="en-US" sz="1300" b="1" dirty="0">
                <a:solidFill>
                  <a:srgbClr val="E0A4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</a:t>
            </a:r>
            <a:r>
              <a:rPr lang="en-US" sz="1300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매장</a:t>
            </a:r>
            <a:r>
              <a:rPr lang="en-US" sz="130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인력에 의존한다.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8247888" y="1828800"/>
            <a:ext cx="3575304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8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8247888" y="1828800"/>
            <a:ext cx="3575304" cy="109728"/>
          </a:xfrm>
          <a:prstGeom prst="rect">
            <a:avLst/>
          </a:prstGeom>
          <a:solidFill>
            <a:srgbClr val="8C807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8631936" y="2148840"/>
            <a:ext cx="786384" cy="786384"/>
          </a:xfrm>
          <a:prstGeom prst="ellipse">
            <a:avLst/>
          </a:prstGeom>
          <a:solidFill>
            <a:srgbClr val="8C8073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8532" y="2345436"/>
            <a:ext cx="393192" cy="39319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573768" y="2286000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음성비서 · 배달앱</a:t>
            </a:r>
            <a:endParaRPr lang="en-US" sz="1650" dirty="0"/>
          </a:p>
        </p:txBody>
      </p:sp>
      <p:sp>
        <p:nvSpPr>
          <p:cNvPr id="26" name="Text 21"/>
          <p:cNvSpPr/>
          <p:nvPr/>
        </p:nvSpPr>
        <p:spPr>
          <a:xfrm>
            <a:off x="8558784" y="315468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말로 검색은 된다.</a:t>
            </a:r>
            <a:endParaRPr lang="en-US" sz="1350" dirty="0"/>
          </a:p>
        </p:txBody>
      </p:sp>
      <p:sp>
        <p:nvSpPr>
          <p:cNvPr id="27" name="Shape 22"/>
          <p:cNvSpPr/>
          <p:nvPr/>
        </p:nvSpPr>
        <p:spPr>
          <a:xfrm>
            <a:off x="8558784" y="3657600"/>
            <a:ext cx="2953512" cy="0"/>
          </a:xfrm>
          <a:prstGeom prst="line">
            <a:avLst/>
          </a:prstGeom>
          <a:noFill/>
          <a:ln w="12700">
            <a:solidFill>
              <a:srgbClr val="E8DE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/>
          <p:nvPr/>
        </p:nvSpPr>
        <p:spPr>
          <a:xfrm>
            <a:off x="8558784" y="3767328"/>
            <a:ext cx="2953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8C80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한계  </a:t>
            </a:r>
            <a:r>
              <a:rPr lang="en-US" sz="130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 매장의 실제 메뉴·옵션은 모른다.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548640" y="5285232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2A2018"/>
          </a:solidFill>
          <a:ln w="12700">
            <a:solidFill>
              <a:srgbClr val="E8DE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5"/>
          <p:cNvSpPr/>
          <p:nvPr/>
        </p:nvSpPr>
        <p:spPr>
          <a:xfrm>
            <a:off x="804672" y="5458968"/>
            <a:ext cx="493776" cy="493776"/>
          </a:xfrm>
          <a:prstGeom prst="ellipse">
            <a:avLst/>
          </a:prstGeom>
          <a:solidFill>
            <a:srgbClr val="C2683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568696"/>
            <a:ext cx="274320" cy="2743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508760" y="5285232"/>
            <a:ext cx="9994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어느 </a:t>
            </a:r>
            <a:r>
              <a:rPr lang="en-US" sz="1550" b="1" dirty="0" err="1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것도</a:t>
            </a:r>
            <a:r>
              <a:rPr lang="en-US" sz="15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550" b="1" dirty="0" err="1">
                <a:solidFill>
                  <a:srgbClr val="B160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말한</a:t>
            </a:r>
            <a:r>
              <a:rPr lang="en-US" sz="1550" b="1" dirty="0">
                <a:solidFill>
                  <a:srgbClr val="B160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550" b="1" dirty="0" err="1">
                <a:solidFill>
                  <a:srgbClr val="B160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</a:t>
            </a:r>
            <a:r>
              <a:rPr lang="en-US" sz="1550" b="1" dirty="0" err="1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를</a:t>
            </a:r>
            <a:r>
              <a:rPr lang="en-US" sz="15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550" b="1" dirty="0" err="1">
                <a:solidFill>
                  <a:srgbClr val="B160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</a:t>
            </a:r>
            <a:r>
              <a:rPr lang="en-US" sz="1550" b="1" dirty="0">
                <a:solidFill>
                  <a:srgbClr val="B160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550" b="1" dirty="0" err="1">
                <a:solidFill>
                  <a:srgbClr val="B160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매장의</a:t>
            </a:r>
            <a:r>
              <a:rPr lang="en-US" sz="1550" b="1" dirty="0">
                <a:solidFill>
                  <a:srgbClr val="B160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550" b="1" dirty="0" err="1">
                <a:solidFill>
                  <a:srgbClr val="B160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메뉴</a:t>
            </a:r>
            <a:r>
              <a:rPr lang="en-US" sz="1550" b="1" dirty="0" err="1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</a:t>
            </a:r>
            <a:r>
              <a:rPr lang="en-US" sz="15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바꿔주지는 못합니다. — 바로 그 빈칸을 채웁니다.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창직 </a:t>
            </a:r>
            <a:r>
              <a:rPr lang="en-US" sz="1100" b="1" kern="0" spc="100" dirty="0" err="1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아이디어</a:t>
            </a:r>
            <a:r>
              <a:rPr lang="en-US" sz="1100" b="1" kern="0" spc="100" dirty="0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100" b="1" kern="0" spc="100" dirty="0" err="1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경진대회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C80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그래서 제안합니다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말로 시작해 손가락으로 끝내는, 4단계 음성 주문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670048" cy="3429000"/>
          </a:xfrm>
          <a:prstGeom prst="roundRect">
            <a:avLst>
              <a:gd name="adj" fmla="val 4110"/>
            </a:avLst>
          </a:prstGeom>
          <a:solidFill>
            <a:srgbClr val="FBF6F0"/>
          </a:solidFill>
          <a:ln w="12700">
            <a:solidFill>
              <a:srgbClr val="E8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04672" y="23500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426464" y="2926080"/>
            <a:ext cx="914400" cy="914400"/>
          </a:xfrm>
          <a:prstGeom prst="ellipse">
            <a:avLst/>
          </a:prstGeom>
          <a:solidFill>
            <a:srgbClr val="C2683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064" y="315468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402336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말로 의도 입력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49808" y="4544568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“시원하고 단 커피”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결과만 말하면 됩니다.</a:t>
            </a:r>
            <a:endParaRPr lang="en-US" sz="12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6976" y="3108960"/>
            <a:ext cx="219456" cy="21945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65576" y="2148840"/>
            <a:ext cx="2670048" cy="3429000"/>
          </a:xfrm>
          <a:prstGeom prst="roundRect">
            <a:avLst>
              <a:gd name="adj" fmla="val 4110"/>
            </a:avLst>
          </a:prstGeom>
          <a:solidFill>
            <a:srgbClr val="FBF6F0"/>
          </a:solidFill>
          <a:ln w="12700">
            <a:solidFill>
              <a:srgbClr val="E8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/>
          <p:nvPr/>
        </p:nvSpPr>
        <p:spPr>
          <a:xfrm>
            <a:off x="3721608" y="23500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A4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4343400" y="2926080"/>
            <a:ext cx="914400" cy="914400"/>
          </a:xfrm>
          <a:prstGeom prst="ellipse">
            <a:avLst/>
          </a:prstGeom>
          <a:solidFill>
            <a:srgbClr val="E0A458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1546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48456" y="402336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AI가 후보 제시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3666744" y="4544568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비슷한 메뉴를 이미지 +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쉬운 말로 보여줍니다.</a:t>
            </a:r>
            <a:endParaRPr lang="en-US" sz="12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3108960"/>
            <a:ext cx="219456" cy="21945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382512" y="2148840"/>
            <a:ext cx="2670048" cy="3429000"/>
          </a:xfrm>
          <a:prstGeom prst="roundRect">
            <a:avLst>
              <a:gd name="adj" fmla="val 4110"/>
            </a:avLst>
          </a:prstGeom>
          <a:solidFill>
            <a:srgbClr val="FBF6F0"/>
          </a:solidFill>
          <a:ln w="12700">
            <a:solidFill>
              <a:srgbClr val="E8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/>
          <p:cNvSpPr/>
          <p:nvPr/>
        </p:nvSpPr>
        <p:spPr>
          <a:xfrm>
            <a:off x="6638544" y="23500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7D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700" dirty="0"/>
          </a:p>
        </p:txBody>
      </p:sp>
      <p:sp>
        <p:nvSpPr>
          <p:cNvPr id="22" name="Shape 16"/>
          <p:cNvSpPr/>
          <p:nvPr/>
        </p:nvSpPr>
        <p:spPr>
          <a:xfrm>
            <a:off x="7260336" y="2926080"/>
            <a:ext cx="914400" cy="914400"/>
          </a:xfrm>
          <a:prstGeom prst="ellipse">
            <a:avLst/>
          </a:prstGeom>
          <a:solidFill>
            <a:srgbClr val="2E7D6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8936" y="3154680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565392" y="402336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터치로 좁히기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6583680" y="4544568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‘맞아요/아니에요’를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버튼으로 고르며 좁힙니다.</a:t>
            </a:r>
            <a:endParaRPr lang="en-US" sz="125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848" y="3108960"/>
            <a:ext cx="219456" cy="219456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9299448" y="2148840"/>
            <a:ext cx="2670048" cy="3429000"/>
          </a:xfrm>
          <a:prstGeom prst="roundRect">
            <a:avLst>
              <a:gd name="adj" fmla="val 4110"/>
            </a:avLst>
          </a:prstGeom>
          <a:solidFill>
            <a:srgbClr val="FBF6F0"/>
          </a:solidFill>
          <a:ln w="12700">
            <a:solidFill>
              <a:srgbClr val="E8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0"/>
          <p:cNvSpPr/>
          <p:nvPr/>
        </p:nvSpPr>
        <p:spPr>
          <a:xfrm>
            <a:off x="9555480" y="23500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B7C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700" dirty="0"/>
          </a:p>
        </p:txBody>
      </p:sp>
      <p:sp>
        <p:nvSpPr>
          <p:cNvPr id="29" name="Shape 21"/>
          <p:cNvSpPr/>
          <p:nvPr/>
        </p:nvSpPr>
        <p:spPr>
          <a:xfrm>
            <a:off x="10177272" y="2926080"/>
            <a:ext cx="914400" cy="914400"/>
          </a:xfrm>
          <a:prstGeom prst="ellipse">
            <a:avLst/>
          </a:prstGeom>
          <a:solidFill>
            <a:srgbClr val="5B7C4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5872" y="3154680"/>
            <a:ext cx="457200" cy="45720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9482328" y="402336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주문 + 학습</a:t>
            </a:r>
            <a:endParaRPr lang="en-US" sz="1600" dirty="0"/>
          </a:p>
        </p:txBody>
      </p:sp>
      <p:sp>
        <p:nvSpPr>
          <p:cNvPr id="32" name="Text 23"/>
          <p:cNvSpPr/>
          <p:nvPr/>
        </p:nvSpPr>
        <p:spPr>
          <a:xfrm>
            <a:off x="9500616" y="4544568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마신 뒤 별점 평가 →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 매장에 </a:t>
            </a:r>
            <a:r>
              <a:rPr lang="en-US" sz="1250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맞게</a:t>
            </a:r>
            <a:r>
              <a:rPr lang="en-US" sz="12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250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똑똑해</a:t>
            </a:r>
            <a:r>
              <a:rPr lang="ko-KR" altLang="en-US" sz="12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집니다</a:t>
            </a:r>
            <a:r>
              <a:rPr lang="en-US" sz="12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.</a:t>
            </a:r>
            <a:endParaRPr lang="en-US" sz="1250" dirty="0"/>
          </a:p>
        </p:txBody>
      </p:sp>
      <p:sp>
        <p:nvSpPr>
          <p:cNvPr id="33" name="Shape 24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16129"/>
            </a:avLst>
          </a:prstGeom>
          <a:solidFill>
            <a:srgbClr val="E3F0EC"/>
          </a:solidFill>
          <a:ln w="12700">
            <a:solidFill>
              <a:srgbClr val="E8DE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5"/>
          <p:cNvSpPr/>
          <p:nvPr/>
        </p:nvSpPr>
        <p:spPr>
          <a:xfrm>
            <a:off x="822960" y="58064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7D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 </a:t>
            </a:r>
            <a:r>
              <a:rPr lang="en-US" sz="1350" b="1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음성은 ‘처음 의도’를 잡을 때만, 좁혀가는 </a:t>
            </a:r>
            <a:r>
              <a:rPr lang="en-US" sz="1350" b="1" dirty="0" err="1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건</a:t>
            </a:r>
            <a:r>
              <a:rPr lang="en-US" sz="1350" b="1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b="1" dirty="0" err="1">
                <a:solidFill>
                  <a:srgbClr val="2F7D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이미지</a:t>
            </a:r>
            <a:r>
              <a:rPr lang="en-US" sz="1350" b="1" dirty="0">
                <a:solidFill>
                  <a:srgbClr val="2F7D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b="1" dirty="0" err="1">
                <a:solidFill>
                  <a:srgbClr val="2F7D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터치</a:t>
            </a:r>
            <a:r>
              <a:rPr lang="en-US" sz="1350" b="1" dirty="0" err="1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</a:t>
            </a:r>
            <a:r>
              <a:rPr lang="en-US" sz="1350" b="1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— 빠르고, 시끄러워도 안정적입니다.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창직 </a:t>
            </a:r>
            <a:r>
              <a:rPr lang="en-US" sz="1100" b="1" kern="0" spc="100" dirty="0" err="1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아이디어</a:t>
            </a:r>
            <a:r>
              <a:rPr lang="en-US" sz="1100" b="1" kern="0" spc="100" dirty="0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100" b="1" kern="0" spc="100" dirty="0" err="1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경진대회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C80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이렇게 작동합니다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대화 예시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035040" y="1783080"/>
            <a:ext cx="5605272" cy="1051560"/>
          </a:xfrm>
          <a:prstGeom prst="roundRect">
            <a:avLst>
              <a:gd name="adj" fmla="val 14737"/>
            </a:avLst>
          </a:prstGeom>
          <a:solidFill>
            <a:srgbClr val="F7E4D7"/>
          </a:solidFill>
          <a:ln w="12700">
            <a:solidFill>
              <a:srgbClr val="E8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263640" y="18928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어르신 (음성)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63640" y="21671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“시원하고 단 커피 줘요.”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5605272" cy="1051560"/>
          </a:xfrm>
          <a:prstGeom prst="roundRect">
            <a:avLst>
              <a:gd name="adj" fmla="val 12174"/>
            </a:avLst>
          </a:prstGeom>
          <a:solidFill>
            <a:srgbClr val="E3F0EC"/>
          </a:solidFill>
          <a:ln w="12700">
            <a:solidFill>
              <a:srgbClr val="E8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18928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키오스크 + 이미지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16712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“아이스 라떼(우유가 들어가요)에 시럽 추가,</a:t>
            </a:r>
            <a:endParaRPr lang="en-US" sz="14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이거 맞으세요?”  🖼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035040" y="3017520"/>
            <a:ext cx="5605272" cy="868680"/>
          </a:xfrm>
          <a:prstGeom prst="roundRect">
            <a:avLst>
              <a:gd name="adj" fmla="val 20000"/>
            </a:avLst>
          </a:prstGeom>
          <a:solidFill>
            <a:srgbClr val="F7E4D7"/>
          </a:solidFill>
          <a:ln w="12700">
            <a:solidFill>
              <a:srgbClr val="E8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263640" y="31272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어르신 (터치)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63640" y="3401568"/>
            <a:ext cx="5120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“아니요”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5605272" cy="868680"/>
          </a:xfrm>
          <a:prstGeom prst="roundRect">
            <a:avLst>
              <a:gd name="adj" fmla="val 14737"/>
            </a:avLst>
          </a:prstGeom>
          <a:solidFill>
            <a:srgbClr val="E3F0EC"/>
          </a:solidFill>
          <a:ln w="12700">
            <a:solidFill>
              <a:srgbClr val="E8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77240" y="31272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키오스크 + 이미지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34015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“그럼 달콤한 초콜릿 맛 카페모카는요?”  🖼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035040" y="4069080"/>
            <a:ext cx="5605272" cy="960120"/>
          </a:xfrm>
          <a:prstGeom prst="roundRect">
            <a:avLst>
              <a:gd name="adj" fmla="val 20000"/>
            </a:avLst>
          </a:prstGeom>
          <a:solidFill>
            <a:srgbClr val="F7E4D7"/>
          </a:solidFill>
          <a:ln w="12700">
            <a:solidFill>
              <a:srgbClr val="E8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263640" y="41788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어르신 (터치)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4453128"/>
            <a:ext cx="5120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“맞아요! 그거예요.”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069080"/>
            <a:ext cx="5605272" cy="960120"/>
          </a:xfrm>
          <a:prstGeom prst="roundRect">
            <a:avLst>
              <a:gd name="adj" fmla="val 13333"/>
            </a:avLst>
          </a:prstGeom>
          <a:solidFill>
            <a:srgbClr val="E3F0EC"/>
          </a:solidFill>
          <a:ln w="12700">
            <a:solidFill>
              <a:srgbClr val="E8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77240" y="41788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키오스크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4453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주문 완료 — 번호표 🔔</a:t>
            </a:r>
            <a:endParaRPr lang="en-US" sz="14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마신 </a:t>
            </a:r>
            <a:r>
              <a:rPr lang="en-US" sz="1450" dirty="0" err="1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뒤</a:t>
            </a:r>
            <a:r>
              <a:rPr lang="en-US" sz="1450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450" b="1" dirty="0" err="1">
                <a:solidFill>
                  <a:srgbClr val="2F7D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얼마나</a:t>
            </a:r>
            <a:r>
              <a:rPr lang="en-US" sz="1450" b="1" dirty="0">
                <a:solidFill>
                  <a:srgbClr val="2F7D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450" b="1" dirty="0" err="1">
                <a:solidFill>
                  <a:srgbClr val="2F7D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비슷했나</a:t>
            </a:r>
            <a:r>
              <a:rPr lang="en-US" sz="1450" b="1" dirty="0">
                <a:solidFill>
                  <a:srgbClr val="2F7D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450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별점 남기기 ⭐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48640" y="589788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6F1EB"/>
          </a:solidFill>
          <a:ln w="12700">
            <a:solidFill>
              <a:srgbClr val="E8DE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822960" y="589788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모든 후보는 </a:t>
            </a:r>
            <a:r>
              <a:rPr lang="en-US" sz="1350" b="1" dirty="0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사진과 쉬운 말로 함께</a:t>
            </a:r>
            <a:r>
              <a:rPr lang="en-US" sz="13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제시 — 글을 빠르게 못 읽어도, 보고 손가락으로 고르면 됩니다.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창직 </a:t>
            </a:r>
            <a:r>
              <a:rPr lang="en-US" sz="1100" b="1" kern="0" spc="100" dirty="0" err="1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아이디어</a:t>
            </a:r>
            <a:r>
              <a:rPr lang="en-US" sz="1100" b="1" kern="0" spc="100" dirty="0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100" b="1" kern="0" spc="100" dirty="0" err="1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경진대회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C80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약점도 알고 있습니다 — 그래서 이렇게 보완합니다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541264" cy="4206240"/>
          </a:xfrm>
          <a:prstGeom prst="roundRect">
            <a:avLst>
              <a:gd name="adj" fmla="val 2609"/>
            </a:avLst>
          </a:prstGeom>
          <a:solidFill>
            <a:srgbClr val="FBF6F0"/>
          </a:solidFill>
          <a:ln w="12700">
            <a:solidFill>
              <a:srgbClr val="E8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69264" y="2276856"/>
            <a:ext cx="841248" cy="841248"/>
          </a:xfrm>
          <a:prstGeom prst="ellipse">
            <a:avLst/>
          </a:prstGeom>
          <a:solidFill>
            <a:srgbClr val="C2683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248716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2331720"/>
            <a:ext cx="3849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시끄러운 매장 → 음성 인식이 흔들리면?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14400" y="3310128"/>
            <a:ext cx="4809744" cy="0"/>
          </a:xfrm>
          <a:prstGeom prst="line">
            <a:avLst/>
          </a:prstGeom>
          <a:noFill/>
          <a:ln w="12700">
            <a:solidFill>
              <a:srgbClr val="E8DE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960120" y="3602736"/>
            <a:ext cx="310896" cy="310896"/>
          </a:xfrm>
          <a:prstGeom prst="ellipse">
            <a:avLst/>
          </a:prstGeom>
          <a:solidFill>
            <a:srgbClr val="C2683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3666744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3511296"/>
            <a:ext cx="4352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음성은 처음 한 번만, 좁히는 건 이미지 터치로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960120" y="4379976"/>
            <a:ext cx="310896" cy="310896"/>
          </a:xfrm>
          <a:prstGeom prst="ellipse">
            <a:avLst/>
          </a:prstGeom>
          <a:solidFill>
            <a:srgbClr val="C2683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444398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288536"/>
            <a:ext cx="4352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누르고</a:t>
            </a:r>
            <a:r>
              <a:rPr lang="en-US" sz="1350" b="1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b="1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말하기</a:t>
            </a:r>
            <a:r>
              <a:rPr lang="en-US" sz="1350" b="1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버튼으로 주변 소음 차단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960120" y="5157216"/>
            <a:ext cx="310896" cy="310896"/>
          </a:xfrm>
          <a:prstGeom prst="ellipse">
            <a:avLst/>
          </a:prstGeom>
          <a:solidFill>
            <a:srgbClr val="C2683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5221224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5065776"/>
            <a:ext cx="4352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문장이 아닌 핵심 키워드만 받기 (발음에 강함)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6373368" y="1874520"/>
            <a:ext cx="5541264" cy="4206240"/>
          </a:xfrm>
          <a:prstGeom prst="roundRect">
            <a:avLst>
              <a:gd name="adj" fmla="val 2609"/>
            </a:avLst>
          </a:prstGeom>
          <a:solidFill>
            <a:srgbClr val="FBF6F0"/>
          </a:solidFill>
          <a:ln w="12700">
            <a:solidFill>
              <a:srgbClr val="E8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4"/>
          <p:cNvSpPr/>
          <p:nvPr/>
        </p:nvSpPr>
        <p:spPr>
          <a:xfrm>
            <a:off x="6793992" y="2276856"/>
            <a:ext cx="841248" cy="841248"/>
          </a:xfrm>
          <a:prstGeom prst="ellipse">
            <a:avLst/>
          </a:prstGeom>
          <a:solidFill>
            <a:srgbClr val="2E7D6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4304" y="2487168"/>
            <a:ext cx="420624" cy="4206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790688" y="2331720"/>
            <a:ext cx="3849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대화가 길어져 주문 시간이 늘면?</a:t>
            </a:r>
            <a:endParaRPr lang="en-US" sz="1600" dirty="0"/>
          </a:p>
        </p:txBody>
      </p:sp>
      <p:sp>
        <p:nvSpPr>
          <p:cNvPr id="23" name="Shape 16"/>
          <p:cNvSpPr/>
          <p:nvPr/>
        </p:nvSpPr>
        <p:spPr>
          <a:xfrm>
            <a:off x="6739128" y="3310128"/>
            <a:ext cx="4809744" cy="0"/>
          </a:xfrm>
          <a:prstGeom prst="line">
            <a:avLst/>
          </a:prstGeom>
          <a:noFill/>
          <a:ln w="12700">
            <a:solidFill>
              <a:srgbClr val="E8DE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7"/>
          <p:cNvSpPr/>
          <p:nvPr/>
        </p:nvSpPr>
        <p:spPr>
          <a:xfrm>
            <a:off x="6784848" y="3602736"/>
            <a:ext cx="310896" cy="310896"/>
          </a:xfrm>
          <a:prstGeom prst="ellipse">
            <a:avLst/>
          </a:prstGeom>
          <a:solidFill>
            <a:srgbClr val="2E7D6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856" y="3666744"/>
            <a:ext cx="182880" cy="1828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242048" y="3511296"/>
            <a:ext cx="4352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후보 2~3개를 한 화면에 띄워 한 번에 선택</a:t>
            </a:r>
            <a:endParaRPr lang="en-US" sz="1350" dirty="0"/>
          </a:p>
        </p:txBody>
      </p:sp>
      <p:sp>
        <p:nvSpPr>
          <p:cNvPr id="27" name="Shape 19"/>
          <p:cNvSpPr/>
          <p:nvPr/>
        </p:nvSpPr>
        <p:spPr>
          <a:xfrm>
            <a:off x="6784848" y="4379976"/>
            <a:ext cx="310896" cy="310896"/>
          </a:xfrm>
          <a:prstGeom prst="ellipse">
            <a:avLst/>
          </a:prstGeom>
          <a:solidFill>
            <a:srgbClr val="2E7D6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856" y="4443984"/>
            <a:ext cx="182880" cy="18288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242048" y="4288536"/>
            <a:ext cx="4352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단골 </a:t>
            </a:r>
            <a:r>
              <a:rPr lang="en-US" sz="1350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어르신은</a:t>
            </a:r>
            <a:r>
              <a:rPr lang="en-US" sz="13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b="1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지난번</a:t>
            </a:r>
            <a:r>
              <a:rPr lang="en-US" sz="1350" b="1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b="1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</a:t>
            </a:r>
            <a:r>
              <a:rPr lang="en-US" sz="1350" b="1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b="1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음료</a:t>
            </a:r>
            <a:r>
              <a:rPr lang="en-US" sz="1350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</a:t>
            </a:r>
            <a:r>
              <a:rPr lang="en-US" sz="13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바로 재주문</a:t>
            </a:r>
            <a:endParaRPr lang="en-US" sz="1350" dirty="0"/>
          </a:p>
        </p:txBody>
      </p:sp>
      <p:sp>
        <p:nvSpPr>
          <p:cNvPr id="30" name="Shape 21"/>
          <p:cNvSpPr/>
          <p:nvPr/>
        </p:nvSpPr>
        <p:spPr>
          <a:xfrm>
            <a:off x="6784848" y="5157216"/>
            <a:ext cx="310896" cy="310896"/>
          </a:xfrm>
          <a:prstGeom prst="ellipse">
            <a:avLst/>
          </a:prstGeom>
          <a:solidFill>
            <a:srgbClr val="2E7D6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856" y="5221224"/>
            <a:ext cx="182880" cy="18288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242048" y="5065776"/>
            <a:ext cx="4352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안 </a:t>
            </a:r>
            <a:r>
              <a:rPr lang="en-US" sz="1350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되면</a:t>
            </a:r>
            <a:r>
              <a:rPr lang="en-US" sz="13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b="1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직원</a:t>
            </a:r>
            <a:r>
              <a:rPr lang="en-US" sz="1350" b="1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b="1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호출</a:t>
            </a:r>
            <a:r>
              <a:rPr lang="en-US" sz="1350" b="1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 절대 막혀서 포기하지 않게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창직 </a:t>
            </a:r>
            <a:r>
              <a:rPr lang="en-US" sz="1100" b="1" kern="0" spc="100" dirty="0" err="1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아이디어</a:t>
            </a:r>
            <a:r>
              <a:rPr lang="en-US" sz="1100" b="1" kern="0" spc="100" dirty="0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100" b="1" kern="0" spc="100" dirty="0" err="1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경진대회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C80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누구를 위한 것인가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두 고객이 동시에 행복해집니다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6F1EB"/>
          </a:solidFill>
          <a:ln w="12700">
            <a:solidFill>
              <a:srgbClr val="E8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60120" y="2286000"/>
            <a:ext cx="914400" cy="914400"/>
          </a:xfrm>
          <a:prstGeom prst="ellipse">
            <a:avLst/>
          </a:prstGeom>
          <a:solidFill>
            <a:srgbClr val="C2683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5146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2377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김순자 (가상 인물)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2057400" y="2788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80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68세 · 동네 카페 단골이 되고 싶은 분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14400" y="3429000"/>
            <a:ext cx="4480560" cy="0"/>
          </a:xfrm>
          <a:prstGeom prst="line">
            <a:avLst/>
          </a:prstGeom>
          <a:noFill/>
          <a:ln w="12700">
            <a:solidFill>
              <a:srgbClr val="E8DE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914400" y="361188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불편  </a:t>
            </a:r>
            <a:r>
              <a:rPr lang="en-US" sz="140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키오스크가 무섭고, 직원 부르기는 눈치 보인다.
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바람  </a:t>
            </a:r>
            <a:r>
              <a:rPr lang="en-US" sz="140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 도움 </a:t>
            </a:r>
            <a:r>
              <a:rPr lang="en-US" sz="1400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없이</a:t>
            </a:r>
            <a:r>
              <a:rPr lang="en-US" sz="140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400" b="1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내가</a:t>
            </a:r>
            <a:r>
              <a:rPr lang="en-US" sz="1400" b="1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400" b="1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마실</a:t>
            </a:r>
            <a:r>
              <a:rPr lang="en-US" sz="1400" b="1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400" b="1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음료</a:t>
            </a:r>
            <a:r>
              <a:rPr lang="en-US" sz="1400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를</a:t>
            </a:r>
            <a:r>
              <a:rPr lang="en-US" sz="140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스스로 주문하고 싶다.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035040" y="1874520"/>
            <a:ext cx="5605272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8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446520" y="2286000"/>
            <a:ext cx="914400" cy="914400"/>
          </a:xfrm>
          <a:prstGeom prst="ellipse">
            <a:avLst/>
          </a:prstGeom>
          <a:solidFill>
            <a:srgbClr val="2E7D6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51460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543800" y="2377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카페 사장님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543800" y="2788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80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주문 포기·응대 부담을 줄이고 싶은 분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400800" y="3429000"/>
            <a:ext cx="4873752" cy="0"/>
          </a:xfrm>
          <a:prstGeom prst="line">
            <a:avLst/>
          </a:prstGeom>
          <a:noFill/>
          <a:ln w="12700">
            <a:solidFill>
              <a:srgbClr val="E8DE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/>
          <p:nvPr/>
        </p:nvSpPr>
        <p:spPr>
          <a:xfrm>
            <a:off x="6400800" y="361188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얻는 것  </a:t>
            </a:r>
            <a:r>
              <a:rPr lang="en-US" sz="140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포기 주문이 매출이 되고, 직원은 응대 대신 </a:t>
            </a:r>
            <a:r>
              <a:rPr lang="en-US" sz="1400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음료에</a:t>
            </a:r>
            <a:r>
              <a:rPr lang="en-US" sz="140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400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집</a:t>
            </a:r>
            <a:r>
              <a:rPr lang="ko-KR" altLang="en-US" sz="140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 및 인건비 절감</a:t>
            </a:r>
            <a:r>
              <a:rPr lang="en-US" altLang="ko-KR" sz="140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.</a:t>
            </a:r>
            <a:r>
              <a:rPr lang="en-US" sz="140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
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b="1" dirty="0" err="1">
                <a:solidFill>
                  <a:srgbClr val="2E7D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덤</a:t>
            </a:r>
            <a:r>
              <a:rPr lang="en-US" sz="1400" b="1" dirty="0">
                <a:solidFill>
                  <a:srgbClr val="2E7D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</a:t>
            </a:r>
            <a:r>
              <a:rPr lang="en-US" sz="1400" b="1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어르신이</a:t>
            </a:r>
            <a:r>
              <a:rPr lang="en-US" sz="1400" b="1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400" b="1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편한</a:t>
            </a:r>
            <a:r>
              <a:rPr lang="en-US" sz="1400" b="1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400" b="1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카페</a:t>
            </a:r>
            <a:r>
              <a:rPr lang="en-US" sz="1400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라는</a:t>
            </a:r>
            <a:r>
              <a:rPr lang="en-US" sz="140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동네 </a:t>
            </a:r>
            <a:r>
              <a:rPr lang="en-US" sz="1400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평판과</a:t>
            </a:r>
            <a:r>
              <a:rPr lang="en-US" sz="140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ko-KR" altLang="en-US" sz="140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고객 유치</a:t>
            </a:r>
            <a:r>
              <a:rPr lang="en-US" sz="140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창직 </a:t>
            </a:r>
            <a:r>
              <a:rPr lang="en-US" sz="1100" b="1" kern="0" spc="100" dirty="0" err="1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아이디어</a:t>
            </a:r>
            <a:r>
              <a:rPr lang="en-US" sz="1100" b="1" kern="0" spc="100" dirty="0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100" b="1" kern="0" spc="100" dirty="0" err="1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경진대회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C80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이건 ‘창업’이 아니라 ‘창직’입니다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2743200"/>
          </a:xfrm>
          <a:prstGeom prst="roundRect">
            <a:avLst>
              <a:gd name="adj" fmla="val 4000"/>
            </a:avLst>
          </a:prstGeom>
          <a:solidFill>
            <a:srgbClr val="FBF6F0"/>
          </a:solidFill>
          <a:ln w="12700">
            <a:solidFill>
              <a:srgbClr val="E8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C80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창업으로 가면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“AI 키오스크를 만드는 회사를 차린다”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큰 자본, 팀, 완성된 제품·시스템이 먼저 필요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468112" cy="2743200"/>
          </a:xfrm>
          <a:prstGeom prst="roundRect">
            <a:avLst>
              <a:gd name="adj" fmla="val 4000"/>
            </a:avLst>
          </a:prstGeom>
          <a:solidFill>
            <a:srgbClr val="2E7D6B"/>
          </a:solidFill>
          <a:ln w="12700">
            <a:solidFill>
              <a:srgbClr val="E8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46520" y="2057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FE6D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창직으로 가면 (제가 갈 길)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248716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“카페에 음성 주문 경험을</a:t>
            </a:r>
            <a:endParaRPr lang="en-US" sz="16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설계·도입해 주는 새로운 직업이 된다”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446520" y="34747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3F0E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소자본·저위험</a:t>
            </a:r>
            <a:r>
              <a:rPr lang="en-US" sz="1350">
                <a:solidFill>
                  <a:srgbClr val="E3F0E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. 카페</a:t>
            </a:r>
            <a:r>
              <a:rPr lang="en-US" sz="1350" dirty="0">
                <a:solidFill>
                  <a:srgbClr val="E3F0E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4년 + 개발 역량으로 지금 시작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800600"/>
            <a:ext cx="11091672" cy="1325880"/>
          </a:xfrm>
          <a:prstGeom prst="roundRect">
            <a:avLst>
              <a:gd name="adj" fmla="val 8276"/>
            </a:avLst>
          </a:prstGeom>
          <a:solidFill>
            <a:srgbClr val="2A2018"/>
          </a:solidFill>
          <a:ln w="12700">
            <a:solidFill>
              <a:srgbClr val="E8DE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68680" y="5047488"/>
            <a:ext cx="822960" cy="822960"/>
          </a:xfrm>
          <a:prstGeom prst="ellipse">
            <a:avLst/>
          </a:prstGeom>
          <a:solidFill>
            <a:srgbClr val="C2683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5253228"/>
            <a:ext cx="411480" cy="4114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2011680" y="4983480"/>
            <a:ext cx="9509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0A4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창직 → 창업 발전 가능성
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7DBC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매장에서 자리 잡으면, 여러 매장용 ‘음성 주문 솔루션’으로 키워 자연스럽게 창업으로 이어집니다.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창직 </a:t>
            </a:r>
            <a:r>
              <a:rPr lang="en-US" sz="1100" b="1" kern="0" spc="100" dirty="0" err="1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아이디어</a:t>
            </a:r>
            <a:r>
              <a:rPr lang="en-US" sz="1100" b="1" kern="0" spc="100" dirty="0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100" b="1" kern="0" spc="100" dirty="0" err="1">
                <a:solidFill>
                  <a:srgbClr val="C268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경진대회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C80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어떤 가치를 주는가 — 그리고 제가 만들 수 있는가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75304" cy="2697480"/>
          </a:xfrm>
          <a:prstGeom prst="roundRect">
            <a:avLst>
              <a:gd name="adj" fmla="val 4068"/>
            </a:avLst>
          </a:prstGeom>
          <a:solidFill>
            <a:srgbClr val="FBF6F0"/>
          </a:solidFill>
          <a:ln w="12700">
            <a:solidFill>
              <a:srgbClr val="E8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901952" y="2171700"/>
            <a:ext cx="868680" cy="868680"/>
          </a:xfrm>
          <a:prstGeom prst="ellipse">
            <a:avLst/>
          </a:prstGeom>
          <a:solidFill>
            <a:srgbClr val="C2683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9122" y="2388870"/>
            <a:ext cx="434340" cy="4343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200400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기능적 가치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3639312"/>
            <a:ext cx="3118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말만 하면 원하는 음료를</a:t>
            </a:r>
            <a:endParaRPr lang="en-US" sz="13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30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스스로 주문할 수 있다.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98264" y="1828800"/>
            <a:ext cx="3575304" cy="2697480"/>
          </a:xfrm>
          <a:prstGeom prst="roundRect">
            <a:avLst>
              <a:gd name="adj" fmla="val 4068"/>
            </a:avLst>
          </a:prstGeom>
          <a:solidFill>
            <a:srgbClr val="FBF6F0"/>
          </a:solidFill>
          <a:ln w="12700">
            <a:solidFill>
              <a:srgbClr val="E8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751576" y="2171700"/>
            <a:ext cx="868680" cy="868680"/>
          </a:xfrm>
          <a:prstGeom prst="ellipse">
            <a:avLst/>
          </a:prstGeom>
          <a:solidFill>
            <a:srgbClr val="B05A4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8746" y="2388870"/>
            <a:ext cx="434340" cy="4343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81144" y="3200400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감정적 가치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26864" y="3639312"/>
            <a:ext cx="3118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혼자서도</a:t>
            </a:r>
            <a:r>
              <a:rPr lang="en-US" sz="1300" b="1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00" b="1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해냈다</a:t>
            </a:r>
            <a:r>
              <a:rPr lang="en-US" sz="1300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는</a:t>
            </a:r>
            <a:endParaRPr lang="en-US" sz="13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30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자신감과 존엄을 지킨다.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247888" y="1828800"/>
            <a:ext cx="3575304" cy="2697480"/>
          </a:xfrm>
          <a:prstGeom prst="roundRect">
            <a:avLst>
              <a:gd name="adj" fmla="val 4068"/>
            </a:avLst>
          </a:prstGeom>
          <a:solidFill>
            <a:srgbClr val="FBF6F0"/>
          </a:solidFill>
          <a:ln w="12700">
            <a:solidFill>
              <a:srgbClr val="E8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9601200" y="2171700"/>
            <a:ext cx="868680" cy="868680"/>
          </a:xfrm>
          <a:prstGeom prst="ellipse">
            <a:avLst/>
          </a:prstGeom>
          <a:solidFill>
            <a:srgbClr val="2E7D6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8370" y="2388870"/>
            <a:ext cx="434340" cy="4343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30768" y="3200400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20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사회적 가치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476488" y="3639312"/>
            <a:ext cx="3118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고령층 디지털 격차를</a:t>
            </a:r>
            <a:endParaRPr lang="en-US" sz="13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30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매장 현장에서 줄인다.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48640" y="4754880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EC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891540" y="5006340"/>
            <a:ext cx="868680" cy="868680"/>
          </a:xfrm>
          <a:prstGeom prst="ellipse">
            <a:avLst/>
          </a:prstGeom>
          <a:solidFill>
            <a:srgbClr val="E0A458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8710" y="5223510"/>
            <a:ext cx="434340" cy="4343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057400" y="493776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4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실현 가능성  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저는 웹·백엔드 개발과 서비스 </a:t>
            </a:r>
            <a:r>
              <a:rPr lang="en-US" sz="1450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개발</a:t>
            </a:r>
            <a:r>
              <a:rPr lang="en-US" sz="14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450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경험</a:t>
            </a:r>
            <a:r>
              <a:rPr lang="ko-KR" altLang="en-US" sz="14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과 추천 알고리즘 연구 경험</a:t>
            </a:r>
            <a:r>
              <a:rPr lang="en-US" sz="1450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</a:t>
            </a:r>
            <a:r>
              <a:rPr lang="en-US" sz="14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있어, </a:t>
            </a:r>
          </a:p>
          <a:p>
            <a:pPr>
              <a:lnSpc>
                <a:spcPct val="120000"/>
              </a:lnSpc>
            </a:pPr>
            <a:r>
              <a:rPr lang="en-US" sz="1450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</a:t>
            </a:r>
            <a:r>
              <a:rPr lang="en-US" sz="14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음성 주문 흐름을 직접 만들고 매장마다 맞춰줄 수 있습니다. —</a:t>
            </a:r>
            <a:r>
              <a:rPr lang="ko-KR" altLang="en-US" sz="14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450" dirty="0" err="1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아이디어로</a:t>
            </a:r>
            <a:r>
              <a:rPr lang="en-US" sz="1450" dirty="0">
                <a:solidFill>
                  <a:srgbClr val="4A40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끝나지 않습니다.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A2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029200" cy="5029200"/>
          </a:xfrm>
          <a:prstGeom prst="ellipse">
            <a:avLst/>
          </a:prstGeom>
          <a:solidFill>
            <a:srgbClr val="3A2A1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82980" y="1394460"/>
            <a:ext cx="1143000" cy="1143000"/>
          </a:xfrm>
          <a:prstGeom prst="ellipse">
            <a:avLst/>
          </a:prstGeom>
          <a:solidFill>
            <a:srgbClr val="C2683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730" y="1680210"/>
            <a:ext cx="571500" cy="571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7889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A4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문장으로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324612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키오스크 앞에서 망설이는 어르신을 위해,
</a:t>
            </a:r>
            <a:endParaRPr lang="en-US" sz="23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2300" b="1" dirty="0" err="1">
                <a:solidFill>
                  <a:srgbClr val="B160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못</a:t>
            </a:r>
            <a:r>
              <a:rPr lang="en-US" sz="2300" b="1" dirty="0">
                <a:solidFill>
                  <a:srgbClr val="B160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2300" b="1" dirty="0" err="1">
                <a:solidFill>
                  <a:srgbClr val="B160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쓰는</a:t>
            </a:r>
            <a:r>
              <a:rPr lang="en-US" sz="2300" b="1" dirty="0">
                <a:solidFill>
                  <a:srgbClr val="B160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2300" b="1" dirty="0" err="1">
                <a:solidFill>
                  <a:srgbClr val="B160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답답함</a:t>
            </a:r>
            <a:r>
              <a:rPr lang="en-US" sz="2300" b="1" dirty="0" err="1">
                <a:solidFill>
                  <a:srgbClr val="E0A4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을</a:t>
            </a:r>
            <a:r>
              <a:rPr lang="en-US" sz="2300" b="1" dirty="0">
                <a:solidFill>
                  <a:srgbClr val="E0A4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2300" b="1" dirty="0" err="1">
                <a:solidFill>
                  <a:srgbClr val="B160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말로</a:t>
            </a:r>
            <a:r>
              <a:rPr lang="en-US" sz="2300" b="1" dirty="0">
                <a:solidFill>
                  <a:srgbClr val="B160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2300" b="1" dirty="0" err="1">
                <a:solidFill>
                  <a:srgbClr val="B160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주문하는</a:t>
            </a:r>
            <a:r>
              <a:rPr lang="en-US" sz="2300" b="1" dirty="0">
                <a:solidFill>
                  <a:srgbClr val="B160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2300" b="1" dirty="0" err="1">
                <a:solidFill>
                  <a:srgbClr val="B160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경험</a:t>
            </a:r>
            <a:r>
              <a:rPr lang="en-US" sz="2300" b="1" dirty="0" err="1">
                <a:solidFill>
                  <a:srgbClr val="E0A4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으로</a:t>
            </a:r>
            <a:r>
              <a:rPr lang="en-US" sz="2300" b="1" dirty="0">
                <a:solidFill>
                  <a:srgbClr val="E0A45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바꿔
</a:t>
            </a:r>
            <a:endParaRPr lang="en-US" sz="23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스스로 주문하는 자신감 · 매장의 편의 · 세대 격차 해소를 제공합니다.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777240" y="5623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BBA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Voice Order ·  박세웅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31352" y="5532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감사합니다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2256</Words>
  <Application>Microsoft Macintosh PowerPoint</Application>
  <PresentationFormat>사용자 지정</PresentationFormat>
  <Paragraphs>220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Noto Sans CJK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보이스 오더 경험 설계자</dc:title>
  <dc:subject>PptxGenJS Presentation</dc:subject>
  <dc:creator>박세웅</dc:creator>
  <cp:lastModifiedBy>박세웅</cp:lastModifiedBy>
  <cp:revision>5</cp:revision>
  <dcterms:created xsi:type="dcterms:W3CDTF">2026-06-09T02:42:42Z</dcterms:created>
  <dcterms:modified xsi:type="dcterms:W3CDTF">2026-06-09T04:48:39Z</dcterms:modified>
</cp:coreProperties>
</file>